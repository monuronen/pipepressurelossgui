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973CF-8C57-4FC1-9DA8-EA3A50FD7217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C5D52-1806-42F3-8DB7-5E6E7CB40A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763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C5D52-1806-42F3-8DB7-5E6E7CB40AE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663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B9E5-E789-3E94-F6E2-839CB0EBE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A98F1-39EB-82BC-9BDC-206B21C23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5FD69-2935-426D-742F-A05865349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E2B1-BB38-4F8C-AC4D-293E761A995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E68D1-B77E-7D1E-1A5F-1FABD09D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32C9D-FDDA-17F3-6B2E-647B05B0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A9C5A-1104-4785-92C2-59E52527A7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722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157AB-A014-96DF-219C-BA14ADE9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EEC85-5DC1-7F28-0339-1AD7F9654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AD0AD-E661-DE37-E511-486FB682E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E2B1-BB38-4F8C-AC4D-293E761A995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D7103-A491-8CD7-DFCB-DF84AB412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2322E-8ACD-3ED2-5C2B-1ACBEA73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A9C5A-1104-4785-92C2-59E52527A7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6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E6A5-D4EB-F1B9-4C75-A535D935C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EE479-5C72-DB2E-50B2-8F4826DA5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7152B-E17D-455B-8CF9-3119A5A4A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E2B1-BB38-4F8C-AC4D-293E761A995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73AFE-E16C-C3B2-4AE5-2DE205BF4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C177E-C241-F00E-51D0-DF141562B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A9C5A-1104-4785-92C2-59E52527A7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8821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659AD-D963-7D51-45F3-066FEE54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12D8D-C88F-DC29-CA22-B514DDB49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F6894-0D7C-A09D-6615-E865FBC54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A2B1E-8042-B1E0-3540-3F432DE7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E2B1-BB38-4F8C-AC4D-293E761A995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68F4E-750D-9C7B-8238-B0B20B706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BEAD3-7E67-10F2-DC32-7E46D43A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A9C5A-1104-4785-92C2-59E52527A7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934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25433-62CD-804C-B4B0-204CA7F0C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65FAF-28A3-A843-A98D-6733171D2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3CB34-736B-7BD1-33B6-1618B288D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5B1D23-282B-EA16-793D-405BB4338B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66D802-5AA5-8FF4-222B-B243CAD9C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A4EF0-50F3-2AB5-42F3-F95A8B81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E2B1-BB38-4F8C-AC4D-293E761A995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8FB38-B1C9-14ED-80B0-A355D5AD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B4F4C5-77A4-F889-67FF-F5B1DB66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A9C5A-1104-4785-92C2-59E52527A7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46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1656-4FCF-C614-C638-F527FC3D5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B995F6-43FB-A532-76F8-05A131469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E2B1-BB38-4F8C-AC4D-293E761A995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9C019-4623-74CB-A5D3-D0B6D385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C20D2-405F-3B79-0B91-2E117510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A9C5A-1104-4785-92C2-59E52527A7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91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978793-B5B5-9D88-45DA-1E6BCAAE5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E2B1-BB38-4F8C-AC4D-293E761A995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3CFEE2-C2D9-E28F-5403-5E426655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28B73-FC5C-247F-CB94-8C2CABFE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A9C5A-1104-4785-92C2-59E52527A7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859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9D8B4-A14A-B48E-16D4-8731D7C17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DC5BB-C770-4076-A016-65FCA1FA0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A190C-38EF-0C53-910B-D469F3ABE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831B3-2F54-51AE-373A-99C8F4B29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E2B1-BB38-4F8C-AC4D-293E761A995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C90CA-309B-451E-E87D-5BB649D18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6725A-5FA5-C460-9E13-0966263C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A9C5A-1104-4785-92C2-59E52527A7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36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E5548-B07C-E83D-BE86-FFD212FF3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9528F0-0D83-FD60-9E0E-A2C5D6635D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F377C-2F42-3BE0-ABB4-46820EB39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9F011-387D-87A5-4E4C-34735062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E2B1-BB38-4F8C-AC4D-293E761A995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91B8C-15D0-FF94-9EB8-FD7AD7FE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4A7A0-9B67-AD7F-3AA0-100D4FE5D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A9C5A-1104-4785-92C2-59E52527A7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023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EAF6-2827-82EE-63B0-DE6C1B25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F21E6B-AB6C-6E5C-24D2-D428BB86D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003DF-A3DE-FBAE-161A-7D083A4DA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E2B1-BB38-4F8C-AC4D-293E761A995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6A106-A881-6548-EC1F-296A50D9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DE1DD-37D0-C860-E291-50CBCC389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A9C5A-1104-4785-92C2-59E52527A7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331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477D12-42B4-A6D8-4410-7C852BD8C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12BEC-7D28-2A69-0770-3FDD8BB13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43DA0-3734-4D12-7005-4C5E1A7D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E2B1-BB38-4F8C-AC4D-293E761A995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02960-821A-03A7-0728-F953392DB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C4823-94EC-D0EF-7EC1-4AB77DA95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A9C5A-1104-4785-92C2-59E52527A7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52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250817-CE1B-9DBA-E84B-FF5B482E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D58C3-D48C-F7A2-00F1-F3431D1DE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4EC5A-7017-2C24-9FB9-25A28DB07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3DE2B1-BB38-4F8C-AC4D-293E761A995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90F2F-C243-7BB0-8237-2661296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24DE1-2502-62CF-281F-B8F478F83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A9C5A-1104-4785-92C2-59E52527A7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4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E7BEB1-9F6A-FDF3-32A3-4385D988F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457" y="510644"/>
            <a:ext cx="1363603" cy="3052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EF94D3-2186-B883-140F-CFD921818D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11" t="5523" r="14977" b="6793"/>
          <a:stretch>
            <a:fillRect/>
          </a:stretch>
        </p:blipFill>
        <p:spPr>
          <a:xfrm>
            <a:off x="8896988" y="980395"/>
            <a:ext cx="1842132" cy="258271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5EFA2BE-FDCA-1276-C4ED-6A215BABE5B8}"/>
              </a:ext>
            </a:extLst>
          </p:cNvPr>
          <p:cNvGrpSpPr/>
          <p:nvPr/>
        </p:nvGrpSpPr>
        <p:grpSpPr>
          <a:xfrm>
            <a:off x="4309151" y="1041355"/>
            <a:ext cx="2857500" cy="2379518"/>
            <a:chOff x="3821084" y="2466802"/>
            <a:chExt cx="2857500" cy="2379518"/>
          </a:xfrm>
        </p:grpSpPr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2BC692D4-8021-D88C-A537-B60556EFDBC0}"/>
                </a:ext>
              </a:extLst>
            </p:cNvPr>
            <p:cNvSpPr/>
            <p:nvPr/>
          </p:nvSpPr>
          <p:spPr>
            <a:xfrm rot="10800000">
              <a:off x="3821084" y="2466802"/>
              <a:ext cx="2857500" cy="2379518"/>
            </a:xfrm>
            <a:prstGeom prst="trapezoi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Trapezoid 22">
              <a:extLst>
                <a:ext uri="{FF2B5EF4-FFF2-40B4-BE49-F238E27FC236}">
                  <a16:creationId xmlns:a16="http://schemas.microsoft.com/office/drawing/2014/main" id="{01974249-A5F8-45F2-E6FD-FAE3A44A5FC9}"/>
                </a:ext>
              </a:extLst>
            </p:cNvPr>
            <p:cNvSpPr/>
            <p:nvPr/>
          </p:nvSpPr>
          <p:spPr>
            <a:xfrm rot="10800000">
              <a:off x="4043680" y="3169920"/>
              <a:ext cx="2407920" cy="1612392"/>
            </a:xfrm>
            <a:prstGeom prst="trapezoid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2951267-101E-CD33-8962-7144B1D0856B}"/>
              </a:ext>
            </a:extLst>
          </p:cNvPr>
          <p:cNvSpPr txBox="1"/>
          <p:nvPr/>
        </p:nvSpPr>
        <p:spPr>
          <a:xfrm>
            <a:off x="0" y="2032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How accurate are our measurements in this experiment?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CA811-9686-04E9-DBDA-121CF766F5E3}"/>
              </a:ext>
            </a:extLst>
          </p:cNvPr>
          <p:cNvSpPr txBox="1"/>
          <p:nvPr/>
        </p:nvSpPr>
        <p:spPr>
          <a:xfrm>
            <a:off x="568270" y="3723008"/>
            <a:ext cx="2881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Pressure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58B8D1-34C9-6D0F-D003-6F5076675B44}"/>
              </a:ext>
            </a:extLst>
          </p:cNvPr>
          <p:cNvSpPr txBox="1"/>
          <p:nvPr/>
        </p:nvSpPr>
        <p:spPr>
          <a:xfrm>
            <a:off x="4296913" y="3713780"/>
            <a:ext cx="2881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Volume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B1B42D-F3B1-788B-5804-11DCAD7065BC}"/>
              </a:ext>
            </a:extLst>
          </p:cNvPr>
          <p:cNvSpPr txBox="1"/>
          <p:nvPr/>
        </p:nvSpPr>
        <p:spPr>
          <a:xfrm>
            <a:off x="8535322" y="3723008"/>
            <a:ext cx="2881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Elapsed time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D067E1-BFDF-EE4D-3171-A8F91E3C1A4D}"/>
              </a:ext>
            </a:extLst>
          </p:cNvPr>
          <p:cNvSpPr txBox="1"/>
          <p:nvPr/>
        </p:nvSpPr>
        <p:spPr>
          <a:xfrm>
            <a:off x="8153051" y="4306593"/>
            <a:ext cx="3646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Are we starting and stopping the time at really correct times?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8EBF50-28EC-6FD7-06F0-F43C94E4C125}"/>
              </a:ext>
            </a:extLst>
          </p:cNvPr>
          <p:cNvSpPr txBox="1"/>
          <p:nvPr/>
        </p:nvSpPr>
        <p:spPr>
          <a:xfrm>
            <a:off x="4095802" y="4274155"/>
            <a:ext cx="3646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we perfectly know how much volume we accumulate?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DBEA3C-F6D4-3DC6-7814-113FE61D90F1}"/>
              </a:ext>
            </a:extLst>
          </p:cNvPr>
          <p:cNvSpPr txBox="1"/>
          <p:nvPr/>
        </p:nvSpPr>
        <p:spPr>
          <a:xfrm>
            <a:off x="159919" y="4297365"/>
            <a:ext cx="3850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accurate is this device?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we achieve having no bubbles in the connecting tubes?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EF4955-1548-5013-9427-EAC9D69511AD}"/>
              </a:ext>
            </a:extLst>
          </p:cNvPr>
          <p:cNvSpPr txBox="1"/>
          <p:nvPr/>
        </p:nvSpPr>
        <p:spPr>
          <a:xfrm>
            <a:off x="365760" y="5333387"/>
            <a:ext cx="11968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How well do experimental and theoretical friction factors (</a:t>
            </a: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) align under these uncertain factors?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60B8DC-B152-CA05-EEE9-D767C930F884}"/>
              </a:ext>
            </a:extLst>
          </p:cNvPr>
          <p:cNvSpPr txBox="1"/>
          <p:nvPr/>
        </p:nvSpPr>
        <p:spPr>
          <a:xfrm>
            <a:off x="365760" y="6234717"/>
            <a:ext cx="9418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created a windows app for investigating this.</a:t>
            </a:r>
            <a:endParaRPr lang="en-GB" sz="24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58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3EBF2D-6120-9A65-480D-8B04A9508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25" y="112098"/>
            <a:ext cx="8927631" cy="4725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4F682D-EB8C-6555-2005-65C340594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746" y="4588525"/>
            <a:ext cx="7273629" cy="21227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63F2EC5-55B8-C387-BDEA-29355CB7DF1B}"/>
              </a:ext>
            </a:extLst>
          </p:cNvPr>
          <p:cNvSpPr/>
          <p:nvPr/>
        </p:nvSpPr>
        <p:spPr>
          <a:xfrm>
            <a:off x="4774746" y="5171440"/>
            <a:ext cx="3119574" cy="15397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050875-8CA1-2CDF-E8A2-2A6A0BE0A313}"/>
              </a:ext>
            </a:extLst>
          </p:cNvPr>
          <p:cNvCxnSpPr>
            <a:cxnSpLocks/>
          </p:cNvCxnSpPr>
          <p:nvPr/>
        </p:nvCxnSpPr>
        <p:spPr>
          <a:xfrm flipH="1" flipV="1">
            <a:off x="1960880" y="1066800"/>
            <a:ext cx="2813866" cy="41046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3D2CC6F-A0CE-7BE0-CE4D-E3A55BB8C024}"/>
              </a:ext>
            </a:extLst>
          </p:cNvPr>
          <p:cNvSpPr txBox="1"/>
          <p:nvPr/>
        </p:nvSpPr>
        <p:spPr>
          <a:xfrm>
            <a:off x="0" y="4714577"/>
            <a:ext cx="49580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>
                <a:solidFill>
                  <a:srgbClr val="FF0000"/>
                </a:solidFill>
              </a:rPr>
              <a:t>Copy and paste your measurement data from excel into the text box. </a:t>
            </a:r>
            <a:r>
              <a:rPr lang="en-GB" dirty="0">
                <a:solidFill>
                  <a:srgbClr val="FF0000"/>
                </a:solidFill>
              </a:rPr>
              <a:t>(Input 1)</a:t>
            </a: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en-US" dirty="0">
                <a:solidFill>
                  <a:srgbClr val="FF0000"/>
                </a:solidFill>
              </a:rPr>
              <a:t>Click “Run Analysis”</a:t>
            </a:r>
          </a:p>
          <a:p>
            <a:pPr marL="342900" indent="-342900">
              <a:buAutoNum type="arabicParenR"/>
            </a:pPr>
            <a:r>
              <a:rPr lang="en-US" dirty="0">
                <a:solidFill>
                  <a:srgbClr val="FF0000"/>
                </a:solidFill>
              </a:rPr>
              <a:t>Display “Uncertainty Plot”</a:t>
            </a:r>
          </a:p>
          <a:p>
            <a:pPr marL="342900" indent="-342900">
              <a:buAutoNum type="arabicParenR"/>
            </a:pPr>
            <a:r>
              <a:rPr lang="en-GB" dirty="0">
                <a:solidFill>
                  <a:srgbClr val="FF0000"/>
                </a:solidFill>
              </a:rPr>
              <a:t>Adjust 3 uncertain factors (Input 2) and click “Run Analysis” to update the figure until you get a sufficient coverage.</a:t>
            </a:r>
          </a:p>
        </p:txBody>
      </p:sp>
    </p:spTree>
    <p:extLst>
      <p:ext uri="{BB962C8B-B14F-4D97-AF65-F5344CB8AC3E}">
        <p14:creationId xmlns:p14="http://schemas.microsoft.com/office/powerpoint/2010/main" val="628513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Widescreen</PresentationFormat>
  <Paragraphs>15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Mustafa Onur Onen</dc:creator>
  <cp:lastModifiedBy>Mustafa Onur Onen</cp:lastModifiedBy>
  <cp:revision>1</cp:revision>
  <dcterms:created xsi:type="dcterms:W3CDTF">2026-02-26T17:38:36Z</dcterms:created>
  <dcterms:modified xsi:type="dcterms:W3CDTF">2026-02-26T18:21:25Z</dcterms:modified>
</cp:coreProperties>
</file>